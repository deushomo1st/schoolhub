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School Management Software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Universal Primitives: The Design Vocabulary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a Configurable System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43200" y="2103120"/>
            <a:ext cx="3657600" cy="10973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1371600" y="2377440"/>
            <a:ext cx="64008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645920" y="2514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3192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Edidiong Emmanuel Samuel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645920" y="2898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931920" y="28986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NIIT — MMS (Software Engineering)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645920" y="328269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Session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0" y="328269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2025/2026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645920" y="366674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931920" y="366674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645920" y="405079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931920" y="40507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Sirakoro St, Wuse 2, Abuja, FCT, Nigeria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4736592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Edidiong Emmanuel Samuel  |  NIIT — MMS (Software Engineering)  |  2025/2026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473659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14630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005840"/>
            <a:ext cx="74980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algn="ctr" indent="0" marL="0">
              <a:buNone/>
            </a:pPr>
            <a:r>
              <a:rPr lang="en-US" sz="1700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university’s section, a bootcamp’s batch, and a primary school’s class are the same entity wearing different labels.</a:t>
            </a:r>
            <a:pPr algn="ctr" indent="0" marL="0">
              <a:buNone/>
            </a:pPr>
            <a:r>
              <a:rPr lang="en-US" sz="3200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3794760" cy="15544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83464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the Abstraction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246120"/>
            <a:ext cx="3337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entity, one table, one set of business logic. Never duplicate code for each institution type.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09160" y="2743200"/>
            <a:ext cx="3794760" cy="15544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37760" y="283464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Configure the Label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37760" y="3246120"/>
            <a:ext cx="3337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name, rules, and behaviour come from the tenant’s template. Changing “Class” to “Section” is a configuration change, not a code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4736592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Edidiong Emmanuel Samuel  |  NIIT — MMS (Software Engineering)  |  2025/2026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229600" y="473659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Fourteen Universal Concepts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554480"/>
                <a:gridCol w="2560320"/>
                <a:gridCol w="41148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#</a:t>
                      </a:r>
                      <a:endParaRPr lang="en-US" sz="10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Concept</a:t>
                      </a:r>
                      <a:endParaRPr lang="en-US" sz="10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Definition</a:t>
                      </a:r>
                      <a:endParaRPr lang="en-US" sz="10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Common Labels</a:t>
                      </a:r>
                      <a:endParaRPr lang="en-US" sz="10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 / Party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human in the system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student, teacher, guardian, admin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 person does (relationship, not a type)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learner, tutor, registrar, bursar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Organizational Unit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Structural container, recursive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institution, campus, department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Offering / Program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item being taught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course, subject, module, track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Cohort / Group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learners are bundled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class, section, batch, stream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Enrollment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link binding Person to Offering/Cohort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admission, registration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 / Event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single time-bound teaching act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lesson, lecture, lab, workshop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/ Calendar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time skeleton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term, semester, academic year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Assessment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measurement of learning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exam, test, quiz, project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 / Result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output of an assessment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grade, score, transcript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Credential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of completion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certificate, diploma, degree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Progression Rule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 for advancing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prerequisite, promotion, pass mark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Physical or virtual item consumed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room, lab, equipment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Money flows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tuition, fee, invoice, scholarship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365760" y="4736592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Edidiong Emmanuel Samuel  |  NIIT — MMS (Software Engineering)  |  2025/2026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8229600" y="473659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People and Roles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3794760" cy="16459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051560"/>
            <a:ext cx="411480" cy="4114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51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051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 / Party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150876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human in the system. Represented by a single table, not separate tables for each persona. One person can hold multiple roles across institutions.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800600" y="914400"/>
            <a:ext cx="3794760" cy="16459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83480" y="1051560"/>
            <a:ext cx="411480" cy="4114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983480" y="1051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532120" y="1051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0" y="150876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relationship, not a type. One person can simultaneously be a teacher, a parent, and a student. The professional approach uses a join table.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8046720" cy="14630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29260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SchoolHub uses platform.app_user as the single user table. Roles are assigned per-tenant through platform.role_assignment. A PhD student who teaches undergraduates holds two role assignments, not two user accounts.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4736592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Edidiong Emmanuel Samuel  |  NIIT — MMS (Software Engineering)  |  2025/2026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473659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Structure: Org Units and Offerings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3794760" cy="16459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051560"/>
            <a:ext cx="411480" cy="4114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51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051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Organizational Unit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150876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recursive structural container. Institution to Campus to Faculty to Department. Unlimited depth with freeform type labels stored as data.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800600" y="914400"/>
            <a:ext cx="3794760" cy="16459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83480" y="1051560"/>
            <a:ext cx="411480" cy="4114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983480" y="1051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532120" y="1051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Offering / Program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0" y="150876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item being taught. Also recursive: Program to Course to Module. Cross-listed to multiple org units via a link table.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8046720" cy="14630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29260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org_unit uses self-referential parent_id for unlimited nesting. offering mirrors this pattern. offering_org_unit enables cross-listing. Together they answer: who teaches what, and where?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4736592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Edidiong Emmanuel Samuel  |  NIIT — MMS (Software Engineering)  |  2025/2026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473659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Cohorts and Enrollment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3794760" cy="16459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051560"/>
            <a:ext cx="411480" cy="4114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51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051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Cohort / Group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150876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learners are bundled. Recreated every schedule period. Continuity across periods is tracked through enrollment history.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800600" y="914400"/>
            <a:ext cx="3794760" cy="16459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83480" y="1051560"/>
            <a:ext cx="411480" cy="4114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983480" y="1051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532120" y="1051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Enrollment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0" y="150876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central hub. Not a field on a student but its own entity. Carries dates, status, results, and fees. Attendance, grading, and billing all depend on it.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8046720" cy="14630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29260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binds a student to a cohort, offering, or group for one schedule_period. Status lifecycle: active, transferred_out, withdrawn, graduated, repeating. The legacy student.class_id is transitional.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4736592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Edidiong Emmanuel Samuel  |  NIIT — MMS (Software Engineering)  |  2025/2026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473659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 Sessions and Schedules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3794760" cy="16459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051560"/>
            <a:ext cx="411480" cy="4114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51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051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Session / Event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150876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time-bound teaching act. Types include lesson, exam, seminar, and lab. Carries start/end times, resource booking, and recurrence rules.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800600" y="914400"/>
            <a:ext cx="3794760" cy="16459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83480" y="1051560"/>
            <a:ext cx="411480" cy="4114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983480" y="1051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532120" y="1051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Schedule / Calendar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0" y="150876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 skeleton. Self-referential: a Term nests under a Year. This is the axis that most frequently causes system failure when designed too rigidly.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8046720" cy="14630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29260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schedule_period uses self-referential nesting for terms within academic years. session books resources and supports recurrence rules. Scoped to term-based K-12 schools and vocational institutes.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4736592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Edidiong Emmanuel Samuel  |  NIIT — MMS (Software Engineering)  |  2025/2026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473659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Assessment and Records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3794760" cy="16459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051560"/>
            <a:ext cx="411480" cy="4114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51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051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Assessment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150876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measurement of learning. Carries a publish gate so teachers can enter scores privately before releasing them. Supports weighting for composite scoring.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800600" y="914400"/>
            <a:ext cx="3794760" cy="16459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83480" y="1051560"/>
            <a:ext cx="411480" cy="4114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983480" y="1051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532120" y="1051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Record / Result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0" y="150876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of an assessment. One row per student per assessment. Transcripts are generated on demand from live result rows rather than stored as frozen snapshots.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8046720" cy="14630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29260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uses a publish flag to control visibility. result rows are unique per assessment-student pair with resit flags and penalties. Transcripts are live queries so corrected scores propagate instantly.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4736592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Edidiong Emmanuel Samuel  |  NIIT — MMS (Software Engineering)  |  2025/2026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473659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Credentials and Progression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3794760" cy="16459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051560"/>
            <a:ext cx="411480" cy="4114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51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051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Credential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150876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completion issued by the institution. Can be auto-generated when a progression rule is satisfied or issued manually. Revocation requires moderator approval.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800600" y="914400"/>
            <a:ext cx="3794760" cy="16459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83480" y="1051560"/>
            <a:ext cx="411480" cy="4114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983480" y="1051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532120" y="1051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Progression Rule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0" y="150876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for advancing. Rule types: attendance minimums, prerequisite completion, manual score thresholds. Results are evaluated once and stored.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8046720" cy="14630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29260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progression_rule defines the criteria; progression_result stores the outcome. A rule can auto_issue_credential to mint a certificate upon passing. Together they close the enrollment-to-graduation loop.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4736592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Edidiong Emmanuel Samuel  |  NIIT — MMS (Software Engineering)  |  2025/2026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473659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Resources and Finance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3794760" cy="16459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051560"/>
            <a:ext cx="411480" cy="4114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51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051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Resource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150876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physical or virtual item consumed. Rooms, laboratories, equipment. Self-referential so equipment nests under a room. Supports capacity limits and staff-only restrictions.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800600" y="914400"/>
            <a:ext cx="3794760" cy="16459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83480" y="1051560"/>
            <a:ext cx="411480" cy="4114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983480" y="1051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532120" y="1051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Financial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0" y="150876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money flows. Invoices, payments, waivers, scholarships. Supports draft-then-approve workflows for staff-submitted charges and online payment gateway integration.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8046720" cy="14630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29260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and resource_permit manage rooms and equipment bookings. fee_invoice supports fan-out to classes or students with categories for fees, books, and other charges. Stripe integration is currently in progress.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4736592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Edidiong Emmanuel Samuel  |  NIIT — MMS (Software Engineering)  |  2025/2026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473659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Three Primitives That Determine Success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8046720" cy="10058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09728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03327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Incorrect: 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tables for Student and Teacher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Correct: </a:t>
            </a:r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table with Role as a join relationship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71600" y="164592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PhD student who teaches undergraduates must not be a schema contradiction.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8046720" cy="10058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222199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Enrollment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71600" y="25603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Incorrect: 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class_id column on the Student row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Correct: </a:t>
            </a:r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as an independent entity with full lifecycle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371600" y="283464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Attendance, grading, billing, and progression all depend on Enrollment, not Student.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3337560"/>
            <a:ext cx="8046720" cy="10058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347472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474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34107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Schedule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71600" y="37490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Incorrect: 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hardcoded Term or Semester model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Correct: </a:t>
            </a:r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Self-referential schedule_period with configurable nesting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71600" y="402336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institution types require fundamentally different time models. Scoped to K-12 term-based institutions.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4736592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Edidiong Emmanuel Samuel  |  NIIT — MMS (Software Engineering)  |  2025/2026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73659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Scope and Boundaries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2926080" y="11430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primitives form the vocabulary.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926080" y="15544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 connecting them determine the cost.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8046720" cy="12801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468880"/>
            <a:ext cx="7589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universal system supporting every institution type is a career, not a capstone project.</a:t>
            </a:r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rules multiply combinatorially across institution types. Each demands fundamentally different business logic around the same fourteen tables.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840480"/>
            <a:ext cx="8046720" cy="7315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393192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decision: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K-12 private schools and vocational institutes. This is specific, buildable, and defensible under academic examination.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4736592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Edidiong Emmanuel Samuel  |  NIIT — MMS (Software Engineering)  |  2025/2026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473659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Implementation Status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14400"/>
          <a:ext cx="80467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16459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Feature</a:t>
                      </a:r>
                      <a:endParaRPr lang="en-US" sz="10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Status</a:t>
                      </a:r>
                      <a:endParaRPr lang="en-US" sz="10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Authentication and Authorization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Multi-tenant Schema Isolation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People, Roles, and Permissions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Organizational Units and Offerings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Cohorts, Groups, and Enrollment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Sessions, Schedule Periods, and Calendar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Assessment and Results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Credentials and Progression Rules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Resources and Room 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Financial: Invoices, Payments, Scholarships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Library Management System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Notifications and Workflow System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Stripe Payment Integration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Template-specific School Seeding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Deferred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Self-service Password Recovery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Deferred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365760" y="4736592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Edidiong Emmanuel Samuel  |  NIIT — MMS (Software Engineering)  |  2025/2026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8229600" y="473659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Dependencies Used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560320"/>
                <a:gridCol w="1280160"/>
                <a:gridCol w="338328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Category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Dependency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Version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Purpose</a:t>
                      </a:r>
                      <a:endParaRPr lang="en-US" sz="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 Boot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3.5.14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 framework, inversion of control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 Security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3.5.14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Authentication and role-based access control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 Data JPA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3.5.14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Object-relational mapping and repositories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 Web (Tomcat)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10.1.54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Embedded HTTP server and REST endpoints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 Actuator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3.5.14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 checks and monitoring endpoints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 Validation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3.5.14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DTO validation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JJWT (io.jsonwebtoken)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JWT token generation and verification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JDBC Driver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 connectivity with schema-per-tenant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HikariCP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(bundled)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High-performance JDBC connection pooling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Hibernate ORM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6.6.49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 management, schema auto-detection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Jackson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(bundled)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serialization and deserialization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Lucide Icons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(CDN)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Icon library for the user interface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Identity Services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(CDN)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OAuth 2.0 popup-based sign-in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Apache Maven (wrapper)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3.9.15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Dependency management and JAR packaging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 (OpenJDK Temurin)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25.0.2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environment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Server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Relational database management system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365760" y="4736592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Edidiong Emmanuel Samuel  |  NIIT — MMS (Software Engineering)  |  2025/2026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8229600" y="473659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25603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051560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96012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learning institution can be described with fourteen universal concepts. The differences are in the labels and the rules, not in the underlying data structures.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" y="1645920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55448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primitives that determine whether a system is genuinely configurable are Role, Enrollment, and Schedule. These must be modelled as relationships and self-referential structures.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2240280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14884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discipline is essential. Supporting K-12 private schools and vocational institutes is achievable and defensible. Attempting to support every institution type simultaneously leads to combinatorial complexity.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2834640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274320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SchoolHub implementation demonstrates all fourteen primitives in working code, with twelve of fifteen planned features complete. Stripe payment integration is currently in progress.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38404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4736592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Edidiong Emmanuel Samuel  |  NIIT — MMS (Software Engineering)  |  2025/2026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473659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School Management Software — Universal Primitives</dc:title>
  <dc:subject>PptxGenJS Presentation</dc:subject>
  <dc:creator>Edidiong Emmanuel Samuel</dc:creator>
  <cp:lastModifiedBy>Edidiong Emmanuel Samuel</cp:lastModifiedBy>
  <cp:revision>1</cp:revision>
  <dcterms:created xsi:type="dcterms:W3CDTF">2026-07-17T11:00:33Z</dcterms:created>
  <dcterms:modified xsi:type="dcterms:W3CDTF">2026-07-17T11:00:33Z</dcterms:modified>
</cp:coreProperties>
</file>